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Бизнес-модель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компании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«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Лада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» и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романа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«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Поющие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в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терновнике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Анализ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шаблону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Остервальда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Пинье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lang="ru-RU" sz="2000" dirty="0">
              <a:solidFill>
                <a:srgbClr val="282828"/>
              </a:solidFill>
              <a:latin typeface="Arial"/>
            </a:endParaRPr>
          </a:p>
          <a:p>
            <a:pPr marL="0" indent="0" algn="r">
              <a:buNone/>
            </a:pPr>
            <a:r>
              <a:rPr lang="ru-RU" sz="2000" dirty="0">
                <a:solidFill>
                  <a:srgbClr val="282828"/>
                </a:solidFill>
                <a:latin typeface="Arial"/>
              </a:rPr>
              <a:t>Выполнила команда: </a:t>
            </a:r>
            <a:r>
              <a:rPr lang="ru-RU" sz="2000" dirty="0" err="1">
                <a:solidFill>
                  <a:srgbClr val="282828"/>
                </a:solidFill>
                <a:latin typeface="Arial"/>
              </a:rPr>
              <a:t>Авсюкевич</a:t>
            </a:r>
            <a:r>
              <a:rPr lang="ru-RU" sz="2000" dirty="0">
                <a:solidFill>
                  <a:srgbClr val="282828"/>
                </a:solidFill>
                <a:latin typeface="Arial"/>
              </a:rPr>
              <a:t> Анастасия, Сливкин Артём, </a:t>
            </a:r>
            <a:r>
              <a:rPr lang="ru-RU" sz="2000" dirty="0" err="1">
                <a:solidFill>
                  <a:srgbClr val="282828"/>
                </a:solidFill>
                <a:latin typeface="Arial"/>
              </a:rPr>
              <a:t>Пепоян</a:t>
            </a:r>
            <a:r>
              <a:rPr lang="ru-RU" sz="2000" dirty="0">
                <a:solidFill>
                  <a:srgbClr val="282828"/>
                </a:solidFill>
                <a:latin typeface="Arial"/>
              </a:rPr>
              <a:t> Нерсес, </a:t>
            </a:r>
            <a:r>
              <a:rPr lang="ru-RU" sz="2000" dirty="0" err="1">
                <a:solidFill>
                  <a:srgbClr val="282828"/>
                </a:solidFill>
                <a:latin typeface="Arial"/>
              </a:rPr>
              <a:t>Мешечкин</a:t>
            </a:r>
            <a:r>
              <a:rPr lang="ru-RU" sz="2000" dirty="0">
                <a:solidFill>
                  <a:srgbClr val="282828"/>
                </a:solidFill>
                <a:latin typeface="Arial"/>
              </a:rPr>
              <a:t> Игорь, Шульган Роман</a:t>
            </a:r>
          </a:p>
          <a:p>
            <a:pPr algn="l"/>
            <a:endParaRPr sz="2000" b="0" dirty="0">
              <a:solidFill>
                <a:srgbClr val="2828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>
                <a:solidFill>
                  <a:srgbClr val="003366"/>
                </a:solidFill>
                <a:latin typeface="Arial"/>
              </a:rPr>
              <a:t>Ключевые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партнёры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Главные партнёры: государство, Renault &amp; Nissan, КАМАЗ, Ростех, дилерская сеть (300+ автосалонов), поставщики (Северсталь, ММК, Лукойл, Роснефть, Автосвет, Борский стекольный завод и др.).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Минпромторг РФ поддерживает производство через налоговые льготы, субсидии и программы «Первый автомобиль» и «Льготный автокредит». Партнёры и поставщики обеспечивают Ладу всем необходимым — от технологий и компонентов до логистики и дилерской поддержки.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>
                <a:solidFill>
                  <a:srgbClr val="003366"/>
                </a:solidFill>
                <a:latin typeface="Arial"/>
              </a:rPr>
              <a:t>Ключевые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активности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Основная деятельность — производство и развитие модельного ряда. Заводы в Тольятти и Ижевске выпускают LADA Vesta NG, Granta, Niva Legend, Niva Travel.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Компания разрабатывает новые двигатели, коробки передач и электронные системы, проводит испытания, модернизирует оборудование.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Особое направление — импортозамещение. Также активно развиваются логистика, маркетинг, онлайн-продажи и экспорт (Беларусь, Казахстан, Куба, Африка).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>
                <a:solidFill>
                  <a:srgbClr val="003366"/>
                </a:solidFill>
                <a:latin typeface="Arial"/>
              </a:rPr>
              <a:t>Ключевые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ресурсы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Физические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заводы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в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Тольятти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Ижевске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испытательные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полигоны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логистические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центры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Интеллектуальные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бренд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LADA,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инженерные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стандарты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патенты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собственные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технологии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Люди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более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35 000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сотрудников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инженеры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рабочие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маркетологи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Финансы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субсидии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инвестиции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экспортная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выручка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кредиты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Структура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затрат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Основные расходы: металл, комплектующие, энергия, зарплаты, логистика.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Крупная статья — разработка моделей (20–30 млрд ₽ на проект).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Значительные вложения идут в модернизацию, маркетинг и транспортировку.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Финансовая структура: фиксированные расходы (заводы, персонал), переменные (материалы, логистика, бонусы дилерам). Эффект масштаба снижает себестоимость при большом выпуске.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Ценностное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предложение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Доступность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низкая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цена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новые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автомобили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Надёжность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проверенные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временем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модели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Простота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дешевизна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обслуживания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Адаптация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к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российским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условиям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устойчивость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к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дорогам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климату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Развитая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сервисная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всей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стране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Отношения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с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заказчиком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и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каналы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Отношения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гарантийное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постгарантийное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обслуживание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горячая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линия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тест-драйвы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мероприятия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endParaRPr sz="2000" b="0" dirty="0">
              <a:solidFill>
                <a:srgbClr val="282828"/>
              </a:solidFill>
              <a:latin typeface="Arial"/>
            </a:endParaRPr>
          </a:p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Каналы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поставки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</a:t>
            </a: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Официальные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дилеры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основной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канал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Онлайн-платформы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Корпоративные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юрлицам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госструктурам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r>
              <a:rPr sz="2000" b="0" dirty="0" err="1">
                <a:solidFill>
                  <a:srgbClr val="282828"/>
                </a:solidFill>
                <a:latin typeface="Arial"/>
              </a:rPr>
              <a:t>Партнёрские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автосалоны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Клиентские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сегменты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и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доходы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Сегменты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массовый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потребитель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коммерческий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сектор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такси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доставка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госструктуры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сельская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аудитория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корпоративные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клиенты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endParaRPr sz="2000" b="0" dirty="0">
              <a:solidFill>
                <a:srgbClr val="282828"/>
              </a:solidFill>
              <a:latin typeface="Arial"/>
            </a:endParaRPr>
          </a:p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Источники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дохода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автомобилей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через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дилеров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Прямые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юрлицам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госструктурам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Запчасти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аксессуары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Сервисное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обслуживание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Лизинг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кредитные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программы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Поющие в терновнике — Объект анализа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Объект: поместье Дрохеда и династия Клири.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Символика: труд, стойкость, наследие, любовь, жертва.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Цель — создание и сохранение семейного наследия, обеспечение стабильности и безопасности.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Дрохеда — символ семьи, воплощение принципа «человек создан для труда». Функционирует через иерархию, самодостаточность и личные жертвы членов семьи.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Ключевые партнёры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Наемные работники (основная физическая сила), покупатели шерсти, церковь (католическая), Ральф де Брикассар (стратегический партнёр), банки и финансовые учреждения (кредиты и развитие).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Ключевые активности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Разведение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овец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производство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Стрижка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овец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Управление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финансами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долгами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Поддержание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инфраструктуры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поместья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Воспитание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сохранение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семьи</a:t>
            </a:r>
            <a:endParaRPr sz="2000" b="0" dirty="0">
              <a:solidFill>
                <a:srgbClr val="2828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 err="1">
                <a:solidFill>
                  <a:srgbClr val="003366"/>
                </a:solidFill>
                <a:latin typeface="Arial"/>
              </a:rPr>
              <a:t>Дрохеда</a:t>
            </a:r>
            <a:r>
              <a:rPr sz="3600" b="1" dirty="0">
                <a:solidFill>
                  <a:srgbClr val="003366"/>
                </a:solidFill>
                <a:latin typeface="Arial"/>
              </a:rPr>
              <a:t> — Ключевые </a:t>
            </a:r>
            <a:r>
              <a:rPr sz="3600" b="1" dirty="0" err="1">
                <a:solidFill>
                  <a:srgbClr val="003366"/>
                </a:solidFill>
                <a:latin typeface="Arial"/>
              </a:rPr>
              <a:t>ресурсы</a:t>
            </a:r>
            <a:endParaRPr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Земля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поместье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Дрохеда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Поголовье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овец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мериносы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Трудолюбие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семьи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Клири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Репутация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связи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Пэдди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Ральфа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других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Любовь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семейные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узы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Финансовый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капитал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наследства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кредиты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заработки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Достоинства предложения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Для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рынка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высококачественная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конкурентным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ценам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  <a:p>
            <a:pPr algn="l"/>
            <a:endParaRPr sz="2000" b="0" dirty="0">
              <a:solidFill>
                <a:srgbClr val="282828"/>
              </a:solidFill>
              <a:latin typeface="Arial"/>
            </a:endParaRPr>
          </a:p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Для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семьи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Клири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Фиона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безопасность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будущее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детей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Ральф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духовный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статус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эмоциональная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привязанность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Мэгги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любовь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принадлежность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Люк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О’Нил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независимость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земля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Отношения и каналы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Отношения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</a:t>
            </a:r>
          </a:p>
          <a:p>
            <a:pPr algn="l"/>
            <a:r>
              <a:rPr sz="2000" b="0" dirty="0">
                <a:solidFill>
                  <a:srgbClr val="282828"/>
                </a:solidFill>
                <a:latin typeface="Arial"/>
              </a:rPr>
              <a:t>С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покупателями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lang="ru-RU" sz="2000" b="0" dirty="0">
                <a:solidFill>
                  <a:srgbClr val="282828"/>
                </a:solidFill>
                <a:latin typeface="Arial"/>
              </a:rPr>
              <a:t>—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долгосрочные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доверии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>
                <a:solidFill>
                  <a:srgbClr val="282828"/>
                </a:solidFill>
                <a:latin typeface="Arial"/>
              </a:rPr>
              <a:t>С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банками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формальные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отчётности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Внутри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семьи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эмоциональные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полные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любви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жертвенности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endParaRPr sz="2000" b="0" dirty="0">
              <a:solidFill>
                <a:srgbClr val="282828"/>
              </a:solidFill>
              <a:latin typeface="Arial"/>
            </a:endParaRPr>
          </a:p>
          <a:p>
            <a:pPr marL="0" indent="0" algn="l">
              <a:buNone/>
            </a:pPr>
            <a:r>
              <a:rPr sz="2000" b="0" dirty="0" err="1">
                <a:solidFill>
                  <a:srgbClr val="282828"/>
                </a:solidFill>
                <a:latin typeface="Arial"/>
              </a:rPr>
              <a:t>Каналы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поставки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: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Прямые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переработчикам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Аукционы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брокеры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Связи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через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Ральфа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неформальные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каналы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Клиентские сегменты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Крупные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покупатели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фабрики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Банки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финансовые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институты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Семья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Клири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внутренний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«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потребитель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»)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Ральф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Брикассар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особый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сегмент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Местное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сообщество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наемные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работники</a:t>
            </a:r>
            <a:endParaRPr sz="2000" b="0" dirty="0">
              <a:solidFill>
                <a:srgbClr val="2828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Структура затрат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Постоянные: зарплаты, налоги, содержание дома, животных, инфраструктуры.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Переменные: корм, ветеринария, техника, сезонные работы.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Скрытые: эмоциональные жертвы, цена честолюбия и упрямства.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Дрохеда — Источники доходов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шерсти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основной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Продажа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баранины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животноводческой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продукции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Наследство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Мэри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Карсон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капитал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семьи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</a:t>
            </a: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Выплаты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Ральфа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де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Брикассара</a:t>
            </a:r>
            <a:endParaRPr sz="2000" b="0" dirty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 dirty="0" err="1">
                <a:solidFill>
                  <a:srgbClr val="282828"/>
                </a:solidFill>
                <a:latin typeface="Arial"/>
              </a:rPr>
              <a:t>Зарплата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Люка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О’Нила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временный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поток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для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82828"/>
                </a:solidFill>
                <a:latin typeface="Arial"/>
              </a:rPr>
              <a:t>Мэгги</a:t>
            </a:r>
            <a:r>
              <a:rPr sz="2000" b="0" dirty="0">
                <a:solidFill>
                  <a:srgbClr val="282828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Сравнение моделей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Лада — рыночная экономика, прибыль, индустриальный масштаб.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Дрохеда — семейно-трудовая модель, ценность в традициях и любви.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Общее: устойчивость, труд, преемственность и развитие в разных измерениях — экономическом и человеческом.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3366"/>
                </a:solidFill>
                <a:latin typeface="Arial"/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Шаблон Остервальда помогает анализировать как бизнес, так и художественные миры.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Лада — пример промышленной устойчивости и локализации.</a:t>
            </a: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Дрохеда — пример человеческой стойкости и преемственности.</a:t>
            </a:r>
          </a:p>
          <a:p>
            <a:pPr algn="l"/>
            <a:endParaRPr sz="2000" b="0">
              <a:solidFill>
                <a:srgbClr val="282828"/>
              </a:solidFill>
              <a:latin typeface="Arial"/>
            </a:endParaRPr>
          </a:p>
          <a:p>
            <a:pPr algn="l"/>
            <a:r>
              <a:rPr sz="2000" b="0">
                <a:solidFill>
                  <a:srgbClr val="282828"/>
                </a:solidFill>
                <a:latin typeface="Arial"/>
              </a:rPr>
              <a:t>Обе системы показывают, что фундаментом успеха остаются труд, традиции и верность делу.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860</Words>
  <Application>Microsoft Office PowerPoint</Application>
  <PresentationFormat>Экран (4:3)</PresentationFormat>
  <Paragraphs>123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Бизнес-модель компании «Лада» и романа «Поющие в терновнике»</vt:lpstr>
      <vt:lpstr>Ключевые партнёры</vt:lpstr>
      <vt:lpstr>Ключевые активности</vt:lpstr>
      <vt:lpstr>Ключевые ресурсы</vt:lpstr>
      <vt:lpstr>Структура затрат</vt:lpstr>
      <vt:lpstr>Ценностное предложение</vt:lpstr>
      <vt:lpstr>Отношения с заказчиком и каналы</vt:lpstr>
      <vt:lpstr>Клиентские сегменты и доходы</vt:lpstr>
      <vt:lpstr>Поющие в терновнике — Объект анализа</vt:lpstr>
      <vt:lpstr>Дрохеда — Ключевые партнёры</vt:lpstr>
      <vt:lpstr>Дрохеда — Ключевые активности</vt:lpstr>
      <vt:lpstr>Дрохеда — Ключевые ресурсы</vt:lpstr>
      <vt:lpstr>Дрохеда — Достоинства предложения</vt:lpstr>
      <vt:lpstr>Дрохеда — Отношения и каналы</vt:lpstr>
      <vt:lpstr>Дрохеда — Клиентские сегменты</vt:lpstr>
      <vt:lpstr>Дрохеда — Структура затрат</vt:lpstr>
      <vt:lpstr>Дрохеда — Источники доходов</vt:lpstr>
      <vt:lpstr>Сравнение моделей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1</dc:creator>
  <cp:keywords/>
  <dc:description>generated using python-pptx</dc:description>
  <cp:lastModifiedBy>Сливкин Артём Сергеевич</cp:lastModifiedBy>
  <cp:revision>3</cp:revision>
  <dcterms:created xsi:type="dcterms:W3CDTF">2013-01-27T09:14:16Z</dcterms:created>
  <dcterms:modified xsi:type="dcterms:W3CDTF">2025-11-01T12:45:10Z</dcterms:modified>
  <cp:category/>
</cp:coreProperties>
</file>