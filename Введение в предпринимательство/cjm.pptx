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57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57" autoAdjust="0"/>
  </p:normalViewPr>
  <p:slideViewPr>
    <p:cSldViewPr snapToGrid="0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DD80A-D3CA-5190-B6F2-3E4473203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5C44CE-4795-0578-01D6-3283312F4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AD807-E01C-9EAF-6543-4C851875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F6C0C6-3658-A97E-B172-B4193E6DC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6B71C3-CD19-3EF2-F140-804B3ED3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00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77283-419F-F1C1-0FC6-C6ED16BD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0F05C9-D61A-069C-EB8F-55FD8CB5D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43D932-C6E2-A6F3-757E-EB5C8445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1EE7F-152F-E97C-1B42-2A417378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6CCF20-8B9A-E773-C92B-F3B00453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130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1853B-E93F-5D4E-D2FD-8DFDDA15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33DA85-3718-1319-359D-E5840B36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6BFFE-3E4F-9482-2B82-9B6A7CF3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E1661C-0837-7D1E-14A5-90B67711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408421-227E-C0A3-9C6D-EF880F07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8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3EE63-4681-BC1E-8783-9C5E4B78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E4A51-3A45-5C96-D85F-813BC6D56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0C17DC-349D-6965-3940-4287CAC19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6E7EC5-B028-FBD7-3D1F-B872ADB9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7CD0D9-FEFC-D51B-2B33-F9F0E4E3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C5ACC2-E433-667F-0BBD-7B528D5D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97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2E5D3-5CF2-93AE-265B-E684166B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296A54-005A-7C57-8E28-392F466B4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B7577B-FDE4-328E-A83F-35E759CC8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908B57-7C23-0A54-E263-12C91555F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CD7C3D-F46B-40FC-9D00-4463E198D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3D2A24-D155-92ED-A385-89BBA9C5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5DF4B21-EFB5-98D9-3E16-F5364CCF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D766E3-BF74-EB93-210F-615EB8AE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3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A27D8-BE5F-430C-AB06-5A39F4AE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3A5514-2ADE-1EE8-678F-44BAC2BC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30D661-316E-FD62-70D5-76EB07F7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257751-9577-57CF-8D41-A309E0D7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03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8256D9-E973-1F9D-CF93-66DB8814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E6330E-79DD-DD74-E42C-84F71F35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24B158-B63B-FF5C-58E2-D66DC237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91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D216A-12F7-9641-FEEA-B79C0CEB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0BC46A-2C5D-A6C6-200D-0C39FD672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6392D1-4EF5-E0CF-102D-6F929DA19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BEA299-2064-5A0C-8E79-A53CE2D3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751E5E-D071-3689-523B-599AA595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583FA1-08FD-C535-97A3-DE1EEB0B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02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2A85D-CA69-4E31-3249-4FC1B294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AC0787-91E4-4C60-CFFD-D7F49BAD8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BDD7F0-BB2E-E4EA-1323-4908364BD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A0B6B-2368-6448-7EB8-C244751B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7BC0AC-9885-6F71-9794-72ED1161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404256-91CE-DDF2-06B4-E0FA5DD1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6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77EDB-C28B-BDAC-AC6D-78D52382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0B74DD-5189-A99A-91FD-8D07E8D3F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55B301-7754-A357-BDEB-03BCB75C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E42A8-F8BA-41DF-7377-707EE9A6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F5C413-026A-5707-0C24-8421F025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30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6836CE-9753-E3ED-EB38-5B19C345C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BDA3B0-1271-6B57-0266-19E68C855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B00E72-351E-3D79-704E-96A167F4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903D20-BAEF-345B-51B4-532D927E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0EB605-D979-7C1C-DC73-9114210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50EAF-BBAE-87D0-7791-8D2B5C15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B912EF-0821-F11F-C60B-449B27571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DF44D2-8BBE-BCB9-269A-1B3C4D783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4A517-E1EC-4585-B8EE-060775F95A7C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BF4147-290B-3855-EF62-388B9275B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D03E5-D270-ADFC-2A19-14CBFE39B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E173F-33FF-4D09-B457-72F338F501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78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F39EB-7968-F883-979D-5B78A7FA5C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C3C455-F6EE-EAFA-A1B3-35A6DE239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247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F3595-C47B-F64A-6D40-1BE56EA6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Николай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AA370-9864-A26A-C338-3020D73C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● </a:t>
            </a:r>
            <a:r>
              <a:rPr lang="ru-RU" b="1" dirty="0"/>
              <a:t>Демография: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22 года, студент ФТМИ, холост, живет с соседом в общежитии.</a:t>
            </a:r>
            <a:br>
              <a:rPr lang="ru-RU" dirty="0"/>
            </a:br>
            <a:r>
              <a:rPr lang="ru-RU" dirty="0"/>
              <a:t>● </a:t>
            </a:r>
            <a:r>
              <a:rPr lang="ru-RU" b="1" dirty="0" err="1"/>
              <a:t>Психографика</a:t>
            </a:r>
            <a:r>
              <a:rPr lang="ru-RU" b="1" dirty="0"/>
              <a:t>:</a:t>
            </a:r>
          </a:p>
          <a:p>
            <a:pPr marL="0" indent="0">
              <a:buNone/>
            </a:pPr>
            <a:r>
              <a:rPr lang="ru-RU" dirty="0"/>
              <a:t> Самостоятельный покупатель, ориентируется на цену и акции. Не доверяет «дешевому виду» товара, но глубоко не анализирует состав и ГОСТы. Главное — вкус и удобство. Выбирает продукты, которые можно съесть сразу, без готовки. Упаковка должна выглядеть ярко и «вкусно».</a:t>
            </a:r>
            <a:br>
              <a:rPr lang="ru-RU" dirty="0"/>
            </a:br>
            <a:r>
              <a:rPr lang="ru-RU" dirty="0"/>
              <a:t>● </a:t>
            </a:r>
            <a:r>
              <a:rPr lang="ru-RU" b="1" dirty="0"/>
              <a:t>Поведение: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Покупает морепродукты в консервах 1–2 раза в месяц (мидии, криль, кальмары). Выбирает товары по акции, берет в ближайшей сети («Лента», «Перекрёсток», «Пятёрочка»). Не помнит бренды, ориентируется на визуальный образ банки и цену. Ест как самостоятельное блюдо, иногда сочетает с вином.</a:t>
            </a:r>
            <a:br>
              <a:rPr lang="ru-RU" dirty="0"/>
            </a:br>
            <a:r>
              <a:rPr lang="ru-RU" dirty="0"/>
              <a:t>● </a:t>
            </a:r>
            <a:r>
              <a:rPr lang="ru-RU" b="1" dirty="0"/>
              <a:t>Ключевые ценности:</a:t>
            </a:r>
          </a:p>
          <a:p>
            <a:pPr marL="0" indent="0">
              <a:buNone/>
            </a:pPr>
            <a:r>
              <a:rPr lang="ru-RU" dirty="0"/>
              <a:t>Вкус, маринад, удобство (крышка с ключом), доступная цена, внешний вид, уникальность продукта.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478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8D83E-36DA-E2F3-CA59-CC5754AE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CJM</a:t>
            </a:r>
            <a:endParaRPr lang="ru-RU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6AAD25C-FFEB-D2E0-C981-455604E3B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968627"/>
              </p:ext>
            </p:extLst>
          </p:nvPr>
        </p:nvGraphicFramePr>
        <p:xfrm>
          <a:off x="1034980" y="1336432"/>
          <a:ext cx="10148832" cy="4904288"/>
        </p:xfrm>
        <a:graphic>
          <a:graphicData uri="http://schemas.openxmlformats.org/drawingml/2006/table">
            <a:tbl>
              <a:tblPr firstRow="1" firstCol="1" bandRow="1"/>
              <a:tblGrid>
                <a:gridCol w="1691472">
                  <a:extLst>
                    <a:ext uri="{9D8B030D-6E8A-4147-A177-3AD203B41FA5}">
                      <a16:colId xmlns:a16="http://schemas.microsoft.com/office/drawing/2014/main" val="508328749"/>
                    </a:ext>
                  </a:extLst>
                </a:gridCol>
                <a:gridCol w="1691472">
                  <a:extLst>
                    <a:ext uri="{9D8B030D-6E8A-4147-A177-3AD203B41FA5}">
                      <a16:colId xmlns:a16="http://schemas.microsoft.com/office/drawing/2014/main" val="3667376101"/>
                    </a:ext>
                  </a:extLst>
                </a:gridCol>
                <a:gridCol w="1691472">
                  <a:extLst>
                    <a:ext uri="{9D8B030D-6E8A-4147-A177-3AD203B41FA5}">
                      <a16:colId xmlns:a16="http://schemas.microsoft.com/office/drawing/2014/main" val="988096408"/>
                    </a:ext>
                  </a:extLst>
                </a:gridCol>
                <a:gridCol w="1691472">
                  <a:extLst>
                    <a:ext uri="{9D8B030D-6E8A-4147-A177-3AD203B41FA5}">
                      <a16:colId xmlns:a16="http://schemas.microsoft.com/office/drawing/2014/main" val="4117861239"/>
                    </a:ext>
                  </a:extLst>
                </a:gridCol>
                <a:gridCol w="1691472">
                  <a:extLst>
                    <a:ext uri="{9D8B030D-6E8A-4147-A177-3AD203B41FA5}">
                      <a16:colId xmlns:a16="http://schemas.microsoft.com/office/drawing/2014/main" val="666536742"/>
                    </a:ext>
                  </a:extLst>
                </a:gridCol>
                <a:gridCol w="1691472">
                  <a:extLst>
                    <a:ext uri="{9D8B030D-6E8A-4147-A177-3AD203B41FA5}">
                      <a16:colId xmlns:a16="http://schemas.microsoft.com/office/drawing/2014/main" val="3761653973"/>
                    </a:ext>
                  </a:extLst>
                </a:gridCol>
              </a:tblGrid>
              <a:tr h="694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Принятие решения о необходимости покупки консервов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магазина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нужных консервов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Покупка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Лояльность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40906"/>
                  </a:ext>
                </a:extLst>
              </a:tr>
              <a:tr h="1168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Какую проблему решает?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Нужно быстро, вкусно и недорого поесть без готовки. Хочется морепродуктов «на вечер» или под вино.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Где быстрее всего купить по пути домой и где может быть акция.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Найти морепродукты, которые выглядят вкусно и не похожи на дешёвую рыбную консерву.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Проверить цену, упаковку, маринад. Убедиться, что банка открывается без открывашки.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Оценить, было ли вкусно и стоила ли покупка своих денег.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892974"/>
                  </a:ext>
                </a:extLst>
              </a:tr>
              <a:tr h="1168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Мотив к действию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Желание вкусного и удобного продукта; интерес попробовать новое (например, краба).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Близость магазина, наличие акций и низкой цены.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Внешний вид, яркая этикетка, отсутствие «дешевого» вида.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Акционная цена, эстетичный внешний вид, удобная крышка.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Если было вкусно и недорого, вероятность повторной покупки высокая.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501619"/>
                  </a:ext>
                </a:extLst>
              </a:tr>
              <a:tr h="10498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Что может быть барьером?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Понимание, что продукт может быть дорогим; нежелание брать рыбу, которую он не любит.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 акций, нужных товаров или ассортимент слишком дорогой.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Слишком похожие банки, трудность отличить качество; невкусный внешний вид.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выше 130–150₽ без уникального преимущества; банка без ключа.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выросла; в магазине нет товара; вкус оказался посредственным.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1125"/>
                  </a:ext>
                </a:extLst>
              </a:tr>
              <a:tr h="812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ЭМОЦИИ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Предвкушение, лёгкий голод, желание себя порадовать.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Нейтральность, практичность.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Сомнение, решение «на глаз», лёгкий азарт выбора.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Удовлетворение, если нашёл по акции; осторожная уверенность.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Удовлетворение или разочарование; к бренду лояльности почти нет.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2185" marR="421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314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9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939C4-5616-BFC7-BAAA-7A807877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Сергей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1AA31-C23D-2F9E-3D83-476CB4E2A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Демография</a:t>
            </a:r>
          </a:p>
          <a:p>
            <a:pPr marL="0" indent="0">
              <a:buNone/>
            </a:pPr>
            <a:r>
              <a:rPr lang="ru-RU" dirty="0"/>
              <a:t>Сергей - 22-летний студент ФТМИ, живёт в общежитии вместе с соседом. У него есть девушка, но большую часть времени он проводит на учёбе и работе — подрабатывает программистом. Жизнь у него довольно мобильная и бюджетная, поэтому покупательские решения он принимает быстро и прагматично, без долгих размышлений и анализа.</a:t>
            </a:r>
          </a:p>
          <a:p>
            <a:r>
              <a:rPr lang="ru-RU" b="1" dirty="0" err="1"/>
              <a:t>Психографика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Сергей относится к самостоятельным покупателям, которым важно соотношение цены и удобства. Он смотрит на акции, ориентируется на среднюю цену и не доверяет слишком дешёвому виду товара, хотя глубоко составы и ГОСТы не изучает. Для него главное — чтобы продукт был вкусный, практичный и сразу готовый к употреблению. Упаковка важна лишь настолько, чтобы выглядеть аккуратно и съедобно, без </a:t>
            </a:r>
            <a:r>
              <a:rPr lang="ru-RU" dirty="0" err="1"/>
              <a:t>мятин</a:t>
            </a:r>
            <a:r>
              <a:rPr lang="ru-RU" dirty="0"/>
              <a:t> и дешёвого вида.</a:t>
            </a:r>
          </a:p>
          <a:p>
            <a:r>
              <a:rPr lang="ru-RU" b="1" dirty="0"/>
              <a:t>Поведение</a:t>
            </a:r>
          </a:p>
          <a:p>
            <a:pPr marL="0" indent="0">
              <a:buNone/>
            </a:pPr>
            <a:r>
              <a:rPr lang="ru-RU" dirty="0"/>
              <a:t>Консервы с морепродуктами Сергей покупает нерегулярно, примерно один-два раза в месяц. Часто он берёт мидии, криль или кальмары, выбирая их по акциям и доступности в ближайшем магазине — Пятёрочке, Ленте или Перекрёстке. Бренды он почти не запоминает и ориентируется в основном на внешний вид банки и цену. Обычно ест такие продукты как самостоятельное блюдо, а иногда сочетает их с вином, особенно когда хочет перекусить без готовки.</a:t>
            </a:r>
          </a:p>
          <a:p>
            <a:r>
              <a:rPr lang="ru-RU" b="1" dirty="0"/>
              <a:t>Ключевые ценности</a:t>
            </a:r>
          </a:p>
          <a:p>
            <a:pPr marL="0" indent="0">
              <a:buNone/>
            </a:pPr>
            <a:r>
              <a:rPr lang="ru-RU" dirty="0"/>
              <a:t>Для Сергея важен вкус продукта, нормальная заливка и ощущение качества. Он ценит удобство в использовании — например, крышку с ключом, чтобы не искать открывашку. Цена должна быть доступной, но не подозрительно низкой. Внешний вид банки тоже играет роль: она должна быть ровной, аккуратной и выглядеть достойно. Ему важна простота, надёжность и небольшая «уникальность» продукта, чтобы было приятнее есть и разнообразить свой рацион.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214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D0AD3-ED9D-E96F-6FE3-7416D26D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CJM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5568CB8-6AA7-7369-7308-167997AC8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999710"/>
              </p:ext>
            </p:extLst>
          </p:nvPr>
        </p:nvGraphicFramePr>
        <p:xfrm>
          <a:off x="1474839" y="1484673"/>
          <a:ext cx="9163662" cy="4758812"/>
        </p:xfrm>
        <a:graphic>
          <a:graphicData uri="http://schemas.openxmlformats.org/drawingml/2006/table">
            <a:tbl>
              <a:tblPr firstRow="1" firstCol="1" bandRow="1"/>
              <a:tblGrid>
                <a:gridCol w="1527277">
                  <a:extLst>
                    <a:ext uri="{9D8B030D-6E8A-4147-A177-3AD203B41FA5}">
                      <a16:colId xmlns:a16="http://schemas.microsoft.com/office/drawing/2014/main" val="3231756162"/>
                    </a:ext>
                  </a:extLst>
                </a:gridCol>
                <a:gridCol w="1527277">
                  <a:extLst>
                    <a:ext uri="{9D8B030D-6E8A-4147-A177-3AD203B41FA5}">
                      <a16:colId xmlns:a16="http://schemas.microsoft.com/office/drawing/2014/main" val="2898022914"/>
                    </a:ext>
                  </a:extLst>
                </a:gridCol>
                <a:gridCol w="1527277">
                  <a:extLst>
                    <a:ext uri="{9D8B030D-6E8A-4147-A177-3AD203B41FA5}">
                      <a16:colId xmlns:a16="http://schemas.microsoft.com/office/drawing/2014/main" val="2332378916"/>
                    </a:ext>
                  </a:extLst>
                </a:gridCol>
                <a:gridCol w="1527277">
                  <a:extLst>
                    <a:ext uri="{9D8B030D-6E8A-4147-A177-3AD203B41FA5}">
                      <a16:colId xmlns:a16="http://schemas.microsoft.com/office/drawing/2014/main" val="2886299743"/>
                    </a:ext>
                  </a:extLst>
                </a:gridCol>
                <a:gridCol w="1527277">
                  <a:extLst>
                    <a:ext uri="{9D8B030D-6E8A-4147-A177-3AD203B41FA5}">
                      <a16:colId xmlns:a16="http://schemas.microsoft.com/office/drawing/2014/main" val="176732387"/>
                    </a:ext>
                  </a:extLst>
                </a:gridCol>
                <a:gridCol w="1527277">
                  <a:extLst>
                    <a:ext uri="{9D8B030D-6E8A-4147-A177-3AD203B41FA5}">
                      <a16:colId xmlns:a16="http://schemas.microsoft.com/office/drawing/2014/main" val="3257879463"/>
                    </a:ext>
                  </a:extLst>
                </a:gridCol>
              </a:tblGrid>
              <a:tr h="3865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Принятие решения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Выбор магазина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Поиск консервов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Покупка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Лояльность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29560"/>
                  </a:ext>
                </a:extLst>
              </a:tr>
              <a:tr h="13958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Какую проблему решает?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Нужно быстрое, вкусное дополнение к еде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Найти ближайший магазин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Найти нормальные консервы без костей и из морских регионов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Взять нормальную банку без сюрпризов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Иметь проверенный бренд, чтобы не думать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645996"/>
                  </a:ext>
                </a:extLst>
              </a:tr>
              <a:tr h="9921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Мотив к действию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Быстро докинуть что‑то к ужину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Близость магазина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Хочет скумбрию/сардины Доброфлота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Цена норм — берёт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Если ок — покупает снова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851947"/>
                  </a:ext>
                </a:extLst>
              </a:tr>
              <a:tr h="11939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Что может быть барьером?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Может забить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Нет в наличии / далеко идти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Мятые банки, кости, странное происхождение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Нет открывашки, цена чуть выше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Плохой опыт: кости, странный вкус, мятая банка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06635"/>
                  </a:ext>
                </a:extLst>
              </a:tr>
              <a:tr h="790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Эмоции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Голод, желание себя порадовать</a:t>
                      </a: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Прагматично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Легкое недоверие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Удовлетворение, если норм</a:t>
                      </a:r>
                      <a:endParaRPr lang="ru-RU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Уверенность</a:t>
                      </a:r>
                      <a:endParaRPr lang="ru-RU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5659" marR="656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7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04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24B16-EA5B-9718-6486-7F1639A6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Ноунейм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FED6A-9739-93EC-24DE-35FAF3F76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Демография:</a:t>
            </a:r>
            <a:endParaRPr lang="ru-RU" b="1" dirty="0">
              <a:effectLst/>
            </a:endParaRPr>
          </a:p>
          <a:p>
            <a:pPr marL="0" indent="0">
              <a:buNone/>
            </a:pPr>
            <a:r>
              <a:rPr lang="ru-RU" dirty="0"/>
              <a:t>24 года, руководитель проектов, живёт одна.</a:t>
            </a:r>
            <a:endParaRPr lang="ru-RU" b="0" dirty="0">
              <a:effectLst/>
            </a:endParaRPr>
          </a:p>
          <a:p>
            <a:r>
              <a:rPr lang="ru-RU" b="1" dirty="0" err="1"/>
              <a:t>Психографика</a:t>
            </a:r>
            <a:r>
              <a:rPr lang="ru-RU" b="1" dirty="0"/>
              <a:t>:</a:t>
            </a:r>
            <a:endParaRPr lang="ru-RU" b="1" dirty="0">
              <a:effectLst/>
            </a:endParaRPr>
          </a:p>
          <a:p>
            <a:pPr marL="0" indent="0">
              <a:buNone/>
            </a:pPr>
            <a:r>
              <a:rPr lang="ru-RU" dirty="0"/>
              <a:t>Следит за питанием, избегает жирных консервов. Важен вкус, внешний вид рыбы и аккуратная современная упаковка (желательно прозрачная). Не берет дешёвые варианты.</a:t>
            </a:r>
            <a:endParaRPr lang="ru-RU" b="0" dirty="0">
              <a:effectLst/>
            </a:endParaRPr>
          </a:p>
          <a:p>
            <a:r>
              <a:rPr lang="ru-RU" b="1" dirty="0"/>
              <a:t>Поведение:</a:t>
            </a:r>
            <a:endParaRPr lang="ru-RU" b="1" dirty="0">
              <a:effectLst/>
            </a:endParaRPr>
          </a:p>
          <a:p>
            <a:pPr marL="0" indent="0">
              <a:buNone/>
            </a:pPr>
            <a:r>
              <a:rPr lang="ru-RU" dirty="0"/>
              <a:t>Покупает рыбные консервы редко — в основном на праздники и вечеринки. Берёт шпроты, тунец, печень трески. Выбирает в Ленте и </a:t>
            </a:r>
            <a:r>
              <a:rPr lang="ru-RU" dirty="0" err="1"/>
              <a:t>Окее</a:t>
            </a:r>
            <a:r>
              <a:rPr lang="ru-RU" dirty="0"/>
              <a:t>, оценивает упаковку, срок годности и целостность банки.</a:t>
            </a:r>
            <a:endParaRPr lang="ru-RU" b="0" dirty="0">
              <a:effectLst/>
            </a:endParaRPr>
          </a:p>
          <a:p>
            <a:r>
              <a:rPr lang="ru-RU" b="1" dirty="0"/>
              <a:t>Ключевые ценности:</a:t>
            </a:r>
            <a:endParaRPr lang="ru-RU" b="1" dirty="0">
              <a:effectLst/>
            </a:endParaRPr>
          </a:p>
          <a:p>
            <a:pPr marL="0" indent="0">
              <a:buNone/>
            </a:pPr>
            <a:r>
              <a:rPr lang="ru-RU" dirty="0"/>
              <a:t>Красивый внешний вид продукта, высокая </a:t>
            </a:r>
            <a:r>
              <a:rPr lang="ru-RU" dirty="0" err="1"/>
              <a:t>белковость</a:t>
            </a:r>
            <a:r>
              <a:rPr lang="ru-RU" dirty="0"/>
              <a:t>, умеренное масло, удобная упаковка, аппетитность, чистый состав.</a:t>
            </a:r>
            <a:endParaRPr lang="ru-RU" b="0" dirty="0">
              <a:effectLst/>
            </a:endParaRP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009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55CE6-4A2F-611B-8737-94772FE7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344" y="4053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CJM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E0629EF-70E9-2F9D-08CD-545AF8962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835094"/>
              </p:ext>
            </p:extLst>
          </p:nvPr>
        </p:nvGraphicFramePr>
        <p:xfrm>
          <a:off x="1559169" y="1969478"/>
          <a:ext cx="9073662" cy="4350935"/>
        </p:xfrm>
        <a:graphic>
          <a:graphicData uri="http://schemas.openxmlformats.org/drawingml/2006/table">
            <a:tbl>
              <a:tblPr firstRow="1" firstCol="1" bandRow="1"/>
              <a:tblGrid>
                <a:gridCol w="1512277">
                  <a:extLst>
                    <a:ext uri="{9D8B030D-6E8A-4147-A177-3AD203B41FA5}">
                      <a16:colId xmlns:a16="http://schemas.microsoft.com/office/drawing/2014/main" val="3548023833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2064704846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4063427111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2975676357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2624726751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2763804501"/>
                    </a:ext>
                  </a:extLst>
                </a:gridCol>
              </a:tblGrid>
              <a:tr h="6786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Принятие решения о необходимости покупки консервов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магазина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нужных консервов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Покупка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Лояльность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4616"/>
                  </a:ext>
                </a:extLst>
              </a:tr>
              <a:tr h="873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Какую проблему решает?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Нужно быстро накрыть стол, приготовить салат или бутерброды для вечеринки.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Найти магазин поблизости с широким выбором и привычным ассортиментом.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Найти качественные шпроты, тунец или печень трески; убедиться, что продукт выглядит хорошо.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Выбрать оптимальное сочетание цены и качества; проверить срок годности и целостность банки..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Решить, покупать ли этот бренд снова после опыта.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925012"/>
                  </a:ext>
                </a:extLst>
              </a:tr>
              <a:tr h="1051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Мотив к действию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Желание купить вкусный продукт без готовки; подобрать что-то уместное для мероприятия (вечеринка 90-х).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Идёт в Ленту или Окей — рядом с домом, большой выбор.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Ищет красивую упаковку, желательно прозрачную/вакуумную; оценивает внешний вид рыбы; смотрит содержание белка.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Берёт не самые дешёвые консервы; ориентируется на упаковку; выбирает знакомые бренды.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Оценивает вкус, внешний вид рыбы внутри, удобство упаковки.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004149"/>
                  </a:ext>
                </a:extLst>
              </a:tr>
              <a:tr h="873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Что может быть барьером?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Считает рыбные консервы в масле не полезными; сомневается, стоит ли брать.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 небольших магазинах мало выбора; риск наткнуться на дешевые марки..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Упаковка непрозрачная — непонятно, что внутри; темный цвет шпрот может отталкивать; много дешёвых вариантов.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Смятая банка, странный запах, цена выше ожидаемой, подозрительный вид.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Неприятный внешний вид после открытия; слишком много масла; посредственный вкус.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145414"/>
                  </a:ext>
                </a:extLst>
              </a:tr>
              <a:tr h="873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ЭМОЦИИ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Лёгкие сомнения, но понимание, что нужно что-то быстрое..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Нейтральные, спокойные.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Сомнения, лёгкое раздражение: «Почему нельзя видеть продукт?»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Удовлетворение от аккуратной, красивой упаковки; легкое беспокойство о полезности.</a:t>
                      </a:r>
                      <a:endParaRPr lang="ru-RU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Радость при хорошем опыте или разочарование, если рыба выглядит плохо.</a:t>
                      </a:r>
                      <a:endParaRPr lang="ru-RU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283" marR="402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8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7612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1211</Words>
  <Application>Microsoft Office PowerPoint</Application>
  <PresentationFormat>Широкоэкранный</PresentationFormat>
  <Paragraphs>119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Тема Office</vt:lpstr>
      <vt:lpstr>Презентация PowerPoint</vt:lpstr>
      <vt:lpstr>Николай</vt:lpstr>
      <vt:lpstr>CJM</vt:lpstr>
      <vt:lpstr>Сергей</vt:lpstr>
      <vt:lpstr>CJM</vt:lpstr>
      <vt:lpstr>Ноунейм</vt:lpstr>
      <vt:lpstr>CJM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Сливкин Артём Сергеевич</dc:creator>
  <cp:lastModifiedBy>Сливкин Артём Сергеевич</cp:lastModifiedBy>
  <cp:revision>2</cp:revision>
  <dcterms:created xsi:type="dcterms:W3CDTF">2025-11-15T19:05:26Z</dcterms:created>
  <dcterms:modified xsi:type="dcterms:W3CDTF">2025-11-15T19:27:44Z</dcterms:modified>
</cp:coreProperties>
</file>